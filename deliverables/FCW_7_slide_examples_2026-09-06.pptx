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752833b8004bad" /><Relationship Type="http://schemas.openxmlformats.org/officeDocument/2006/relationships/extended-properties" Target="/docProps/app.xml" Id="R6873ebf9e3c64408" /><Relationship Type="http://schemas.openxmlformats.org/officeDocument/2006/relationships/officeDocument" Target="/ppt/presentation.xml" Id="R3c0f1783b51e41a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a69ffc0d25745b8"/>
  </p:sldMasterIdLst>
  <p:notesMasterIdLst>
    <p:notesMasterId xmlns:r="http://schemas.openxmlformats.org/officeDocument/2006/relationships" r:id="R50e3fae401334daa"/>
  </p:notesMasterIdLst>
  <p:sldIdLst>
    <p:sldId xmlns:r="http://schemas.openxmlformats.org/officeDocument/2006/relationships" id="256" r:id="Rb76f4ec418fb4482"/>
    <p:sldId xmlns:r="http://schemas.openxmlformats.org/officeDocument/2006/relationships" id="257" r:id="R7604b19ed09b4f65"/>
    <p:sldId xmlns:r="http://schemas.openxmlformats.org/officeDocument/2006/relationships" id="258" r:id="R2a069a1f69c4450b"/>
    <p:sldId xmlns:r="http://schemas.openxmlformats.org/officeDocument/2006/relationships" id="259" r:id="Rb31cac40db5f409d"/>
    <p:sldId xmlns:r="http://schemas.openxmlformats.org/officeDocument/2006/relationships" id="260" r:id="R2f9d2c484b734a33"/>
    <p:sldId xmlns:r="http://schemas.openxmlformats.org/officeDocument/2006/relationships" id="261" r:id="R78534d4e594341db"/>
    <p:sldId xmlns:r="http://schemas.openxmlformats.org/officeDocument/2006/relationships" id="262" r:id="R3ec6fc7ee6a34f1f"/>
  </p:sldIdLst>
  <p:sldSz cx="12192000" cy="6858000"/>
  <p:notesSz cx="6858000" cy="9144000"/>
  <p:embeddedFontLst>
    <p:embeddedFont>
      <p:font typeface="Inter"/>
      <p:regular xmlns:r="http://schemas.openxmlformats.org/officeDocument/2006/relationships" r:id="Rc31c4484d3444f3f"/>
      <p:bold xmlns:r="http://schemas.openxmlformats.org/officeDocument/2006/relationships" r:id="R8ac80261e7e84af9"/>
    </p:embeddedFont>
    <p:embeddedFont>
      <p:font typeface="Inter Medium"/>
      <p:regular xmlns:r="http://schemas.openxmlformats.org/officeDocument/2006/relationships" r:id="R4e4fa861e5ca40df"/>
    </p:embeddedFont>
    <p:embeddedFont>
      <p:font typeface="Inter SemiBold"/>
      <p:regular xmlns:r="http://schemas.openxmlformats.org/officeDocument/2006/relationships" r:id="Rcb5d55fe2ef84981"/>
      <p:bold xmlns:r="http://schemas.openxmlformats.org/officeDocument/2006/relationships" r:id="Rbc99053118fc4ef2"/>
    </p:embeddedFont>
    <p:embeddedFont>
      <p:font typeface="OpenAI Sans"/>
      <p:regular xmlns:r="http://schemas.openxmlformats.org/officeDocument/2006/relationships" r:id="R87ac83880ba5437e"/>
      <p:bold xmlns:r="http://schemas.openxmlformats.org/officeDocument/2006/relationships" r:id="R021f605e76fe4d38"/>
      <p:italic xmlns:r="http://schemas.openxmlformats.org/officeDocument/2006/relationships" r:id="R67c12ad47def40de"/>
      <p:boldItalic xmlns:r="http://schemas.openxmlformats.org/officeDocument/2006/relationships" r:id="Rf74e1d89d6e541eb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870f0f3e694d4f" /><Relationship Type="http://schemas.openxmlformats.org/officeDocument/2006/relationships/slideMaster" Target="/ppt/slideMasters/slideMaster1.xml" Id="Rba69ffc0d25745b8" /><Relationship Type="http://schemas.openxmlformats.org/officeDocument/2006/relationships/notesMaster" Target="/ppt/notesMasters/notesMaster1.xml" Id="R50e3fae401334daa" /><Relationship Type="http://schemas.openxmlformats.org/officeDocument/2006/relationships/presProps" Target="/ppt/presProps.xml" Id="R223e645b40784e23" /><Relationship Type="http://schemas.openxmlformats.org/officeDocument/2006/relationships/viewProps" Target="/ppt/viewProps.xml" Id="Rc6b8dbdc618d4737" /><Relationship Type="http://schemas.openxmlformats.org/officeDocument/2006/relationships/tableStyles" Target="/ppt/tableStyles.xml" Id="Rc9851a6c31c14add" /><Relationship Type="http://schemas.openxmlformats.org/officeDocument/2006/relationships/font" Target="/ppt/fonts/font.dat" Id="Rc31c4484d3444f3f" /><Relationship Type="http://schemas.openxmlformats.org/officeDocument/2006/relationships/font" Target="/ppt/fonts/font2.dat" Id="R8ac80261e7e84af9" /><Relationship Type="http://schemas.openxmlformats.org/officeDocument/2006/relationships/font" Target="/ppt/fonts/font3.dat" Id="R4e4fa861e5ca40df" /><Relationship Type="http://schemas.openxmlformats.org/officeDocument/2006/relationships/font" Target="/ppt/fonts/font4.dat" Id="Rcb5d55fe2ef84981" /><Relationship Type="http://schemas.openxmlformats.org/officeDocument/2006/relationships/font" Target="/ppt/fonts/font5.dat" Id="Rbc99053118fc4ef2" /><Relationship Type="http://schemas.openxmlformats.org/officeDocument/2006/relationships/font" Target="/ppt/fonts/font6.dat" Id="R87ac83880ba5437e" /><Relationship Type="http://schemas.openxmlformats.org/officeDocument/2006/relationships/font" Target="/ppt/fonts/font7.dat" Id="R021f605e76fe4d38" /><Relationship Type="http://schemas.openxmlformats.org/officeDocument/2006/relationships/font" Target="/ppt/fonts/font8.dat" Id="R67c12ad47def40de" /><Relationship Type="http://schemas.openxmlformats.org/officeDocument/2006/relationships/font" Target="/ppt/fonts/font9.dat" Id="Rf74e1d89d6e541eb" /><Relationship Type="http://schemas.openxmlformats.org/officeDocument/2006/relationships/slide" Target="/ppt/slides/slide1.xml" Id="Rb76f4ec418fb4482" /><Relationship Type="http://schemas.openxmlformats.org/officeDocument/2006/relationships/slide" Target="/ppt/slides/slide2.xml" Id="R7604b19ed09b4f65" /><Relationship Type="http://schemas.openxmlformats.org/officeDocument/2006/relationships/slide" Target="/ppt/slides/slide3.xml" Id="R2a069a1f69c4450b" /><Relationship Type="http://schemas.openxmlformats.org/officeDocument/2006/relationships/slide" Target="/ppt/slides/slide4.xml" Id="Rb31cac40db5f409d" /><Relationship Type="http://schemas.openxmlformats.org/officeDocument/2006/relationships/slide" Target="/ppt/slides/slide5.xml" Id="R2f9d2c484b734a33" /><Relationship Type="http://schemas.openxmlformats.org/officeDocument/2006/relationships/slide" Target="/ppt/slides/slide6.xml" Id="R78534d4e594341db" /><Relationship Type="http://schemas.openxmlformats.org/officeDocument/2006/relationships/slide" Target="/ppt/slides/slide7.xml" Id="R3ec6fc7ee6a34f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e96c3abc454d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2597dce0fd4474" /><Relationship Type="http://schemas.openxmlformats.org/officeDocument/2006/relationships/notesMaster" Target="/ppt/notesMasters/notesMaster1.xml" Id="Ra106b23b9b3e4a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1166bff7a04c28" /><Relationship Type="http://schemas.openxmlformats.org/officeDocument/2006/relationships/notesMaster" Target="/ppt/notesMasters/notesMaster1.xml" Id="R901aab724f5d47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ff02995e994715" /><Relationship Type="http://schemas.openxmlformats.org/officeDocument/2006/relationships/notesMaster" Target="/ppt/notesMasters/notesMaster1.xml" Id="R7f44400a11324d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744a9af03b4138" /><Relationship Type="http://schemas.openxmlformats.org/officeDocument/2006/relationships/notesMaster" Target="/ppt/notesMasters/notesMaster1.xml" Id="Raff13fef84f642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d11a43d3e84148" /><Relationship Type="http://schemas.openxmlformats.org/officeDocument/2006/relationships/notesMaster" Target="/ppt/notesMasters/notesMaster1.xml" Id="Ra24336e3ba8642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c283c33e92497b" /><Relationship Type="http://schemas.openxmlformats.org/officeDocument/2006/relationships/notesMaster" Target="/ppt/notesMasters/notesMaster1.xml" Id="R3471bcb63c344a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996557252e44a9" /><Relationship Type="http://schemas.openxmlformats.org/officeDocument/2006/relationships/notesMaster" Target="/ppt/notesMasters/notesMaster1.xml" Id="Raddb55e6e5aa4a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まず、Mac上で実装したPython-based FCW Prototypeについて説明します。このプロトタイプの目的は、実機へ移植する前に、車両検出から警報判定までのFCWロジックを一つの処理として確認することです。入力には録画映像を使用し、フレームごとに処理します。結果は映像上に表示し、処理後の動画とCSVログとして保存します。Macでは警報音も出力します。このPython版を、後のTDA4VM実装で参照する基準動作として使用しました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(not spoken):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code/ssd_ttc.py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code/fcw/config.py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Image: output/ssd_ttc_result_0.4_1788427235.889101.mp4 at 28 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Python版では、まずSSD MobileNet V2を使って各フレームの車両を検出します。COCOデータセットの車クラスだけを対象にし、信頼度が0.4以上の検出を残します。次に、画像上に設定した台形ROIを使い、バウンディングボックスの下辺中心がROI内にある車両だけを選別します。これにより、自車の前方とは考えにくい検出を後段から除外します。その後、前フレームとのIoUを使って車両IDを引き継ぎます。同じIDを維持することで、同じ車両の高さ変化を追跡できます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(not spoken):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code/fcw/detector.py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code/fcw/roi.py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code/fcw/tracker.py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code/fcw/config.py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追跡した車両ごとに、バウンディングボックスの高さを5フレーム分保持します。車両が接近すると画像上の高さが増えるため、高さと時間の関係を線形回帰し、dh/dtを求めます。現在の高さをdh/dtで割ることでTTCを推定します。高さが増加していない場合は接近していないと判断し、TTCを計算しません。現行設定では、TTCが4秒以下の状態が3フレーム連続すると警報を開始し、6.5秒以上になると解除します。異なる開始条件と解除条件によって、警報の頻繁な切り替わりを抑えます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(not spoken):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code/fcw/ttc.py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code/fcw/alert.py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code/fcw/config.py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判定結果は、映像上のバウンディングボックスやラベルとして確認できます。通常の車両は緑枠、警報中の車両は赤枠で表示し、ID、検出信頼度、IoU、履歴長、TTC、警報状態を重ねます。また、Macでは警報時にシステム音を再生し、処理後のMP4動画とCSVログを保存します。CSVでは、車両高さ、dh/dt、TTC、決定係数、警報状態を数値で確認できます。一方で、この値は画像上の高さから求めた推定値です。Python版で基準動作を確認した後、実機への移植に進み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(not spoken):</a:t>
            </a:r>
          </a:p>
          <a:p xmlns:a="http://schemas.openxmlformats.org/drawingml/2006/main">
            <a:r>
              <a:t>- code/fcw/visualizer.py</a:t>
            </a:r>
          </a:p>
          <a:p xmlns:a="http://schemas.openxmlformats.org/drawingml/2006/main">
            <a:r>
              <a:t>- code/fcw/logger.py</a:t>
            </a:r>
          </a:p>
          <a:p xmlns:a="http://schemas.openxmlformats.org/drawingml/2006/main">
            <a:r>
              <a:t>- code/fcw/alarm.py</a:t>
            </a:r>
          </a:p>
          <a:p xmlns:a="http://schemas.openxmlformats.org/drawingml/2006/main">
            <a:r>
              <a:t>- code/ssd_ttc.py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ここからはDevelopment Flowについて説明します。開発は、Mac上でPython版のFCWロジックを確認するところから始めました。その後、TDA4VMのセットアップとAVP2の実行へ進みました。映像処理では、H.264 decodingと3chから1chへの変換を順番に確認しました。映像が後段へ安定して届く状態を作ってから、Object DetectionとTTCを統合しました。最後にDemoとResultで一連の動作を確認します。段階ごとに出力を確認したことで、問題が発生した処理を切り分けやすくしました。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機側の最初の段階では、TDA4VM上で必要な環境を準備し、ビルド、配置、起動ができることを確認しました。次にAVP2のベースパイプラインを実行し、処理グラフが動作する状態を作りました。その後、入力処理にH.264 decodingを接続し、映像からフレームを取得できることを確認しました。この時点ではTTCロジックを追加せず、映像が継続的に流れることを優先して確認しました。続いて3chから1chへの変換を接続し、後段が受け取るデータ形式を整えました。これにより、次の統合段階へ進める入力経路が完成し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最後に、実機で得られたObject Detectionの結果を、FCWの後段処理へ接続します。検出結果を受けて前方車両を選別し、車両を追跡しながらTTCを計算して警報状態を更新します。Mac版で確認した処理の流れを基準にすることで、実機側の結果を段階ごとに比較できます。統合後は、映像上の検出枠、車両ID、TTC、警報表示をDemoとResultとして確認します。このスライドの右上はMac版の基準出力です。最終発表では、右下の枠をTDA4VM実機のキャプチャへ差し替え、両者を比較して締めます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(not spoken):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- 0904_new/codeC/main_pre.c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- 0904_new/app_tidl_avp2/main.c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Image: output/ssd_ttc_result_0.4_1788427235.889101.mp4 at 114.28 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3cc7d19e8e4c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e827650c194e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bc4e815b5647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8b713816464d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5bcb4443d43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3e05009ad4e4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4e404436a643d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7af85ff0149b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5661af40284d31" /><Relationship Type="http://schemas.openxmlformats.org/officeDocument/2006/relationships/slideLayout" Target="/ppt/slideLayouts/slideLayout1.xml" Id="Rd368b8dac92946fc" /><Relationship Type="http://schemas.openxmlformats.org/officeDocument/2006/relationships/slideLayout" Target="/ppt/slideLayouts/slideLayout2.xml" Id="R56bcf4abd277471e" /><Relationship Type="http://schemas.openxmlformats.org/officeDocument/2006/relationships/slideLayout" Target="/ppt/slideLayouts/slideLayout3.xml" Id="R8ec5a8dbb7c04815" /><Relationship Type="http://schemas.openxmlformats.org/officeDocument/2006/relationships/slideLayout" Target="/ppt/slideLayouts/slideLayout4.xml" Id="R36f93d325c5448d6" /><Relationship Type="http://schemas.openxmlformats.org/officeDocument/2006/relationships/slideLayout" Target="/ppt/slideLayouts/slideLayout5.xml" Id="R7c62c33980b74c64" /><Relationship Type="http://schemas.openxmlformats.org/officeDocument/2006/relationships/slideLayout" Target="/ppt/slideLayouts/slideLayout6.xml" Id="Rf7d3ade6dcd0444e" /><Relationship Type="http://schemas.openxmlformats.org/officeDocument/2006/relationships/slideLayout" Target="/ppt/slideLayouts/slideLayout7.xml" Id="R981a0f3d99064ef6" /><Relationship Type="http://schemas.openxmlformats.org/officeDocument/2006/relationships/slideLayout" Target="/ppt/slideLayouts/slideLayout8.xml" Id="R25c2793b758f489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002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68b8dac92946fc"/>
    <p:sldLayoutId xmlns:r="http://schemas.openxmlformats.org/officeDocument/2006/relationships" id="2147483650" r:id="R56bcf4abd277471e"/>
    <p:sldLayoutId xmlns:r="http://schemas.openxmlformats.org/officeDocument/2006/relationships" id="2147483651" r:id="R8ec5a8dbb7c04815"/>
    <p:sldLayoutId xmlns:r="http://schemas.openxmlformats.org/officeDocument/2006/relationships" id="2147483652" r:id="R36f93d325c5448d6"/>
    <p:sldLayoutId xmlns:r="http://schemas.openxmlformats.org/officeDocument/2006/relationships" id="2147483653" r:id="R7c62c33980b74c64"/>
    <p:sldLayoutId xmlns:r="http://schemas.openxmlformats.org/officeDocument/2006/relationships" id="2147483654" r:id="Rf7d3ade6dcd0444e"/>
    <p:sldLayoutId xmlns:r="http://schemas.openxmlformats.org/officeDocument/2006/relationships" id="2147483655" r:id="R981a0f3d99064ef6"/>
    <p:sldLayoutId xmlns:r="http://schemas.openxmlformats.org/officeDocument/2006/relationships" id="2147483656" r:id="R25c2793b758f4890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xmlns:a="http://schemas.openxmlformats.org/drawingml/2006/main" val="F26B43"/>
          </p15:clr>
        </p15:guide>
        <p15:guide id="2" pos="7680">
          <p15:clr>
            <a:srgbClr xmlns:a="http://schemas.openxmlformats.org/drawingml/2006/main" val="F26B43"/>
          </p15:clr>
        </p15:guide>
        <p15:guide id="3" pos="248">
          <p15:clr>
            <a:srgbClr xmlns:a="http://schemas.openxmlformats.org/drawingml/2006/main" val="F26B43"/>
          </p15:clr>
        </p15:guide>
        <p15:guide id="4" pos="1264">
          <p15:clr>
            <a:srgbClr xmlns:a="http://schemas.openxmlformats.org/drawingml/2006/main" val="F26B43"/>
          </p15:clr>
        </p15:guide>
        <p15:guide id="5" pos="1480">
          <p15:clr>
            <a:srgbClr xmlns:a="http://schemas.openxmlformats.org/drawingml/2006/main" val="F26B43"/>
          </p15:clr>
        </p15:guide>
        <p15:guide id="6" pos="2496">
          <p15:clr>
            <a:srgbClr xmlns:a="http://schemas.openxmlformats.org/drawingml/2006/main" val="F26B43"/>
          </p15:clr>
        </p15:guide>
        <p15:guide id="7" pos="2712">
          <p15:clr>
            <a:srgbClr xmlns:a="http://schemas.openxmlformats.org/drawingml/2006/main" val="F26B43"/>
          </p15:clr>
        </p15:guide>
        <p15:guide id="8" pos="3736">
          <p15:clr>
            <a:srgbClr xmlns:a="http://schemas.openxmlformats.org/drawingml/2006/main" val="F26B43"/>
          </p15:clr>
        </p15:guide>
        <p15:guide id="9" pos="3944">
          <p15:clr>
            <a:srgbClr xmlns:a="http://schemas.openxmlformats.org/drawingml/2006/main" val="F26B43"/>
          </p15:clr>
        </p15:guide>
        <p15:guide id="10" pos="4968">
          <p15:clr>
            <a:srgbClr xmlns:a="http://schemas.openxmlformats.org/drawingml/2006/main" val="F26B43"/>
          </p15:clr>
        </p15:guide>
        <p15:guide id="11" pos="5184">
          <p15:clr>
            <a:srgbClr xmlns:a="http://schemas.openxmlformats.org/drawingml/2006/main" val="F26B43"/>
          </p15:clr>
        </p15:guide>
        <p15:guide id="12" pos="6200">
          <p15:clr>
            <a:srgbClr xmlns:a="http://schemas.openxmlformats.org/drawingml/2006/main" val="F26B43"/>
          </p15:clr>
        </p15:guide>
        <p15:guide id="13" pos="6416">
          <p15:clr>
            <a:srgbClr xmlns:a="http://schemas.openxmlformats.org/drawingml/2006/main" val="F26B43"/>
          </p15:clr>
        </p15:guide>
        <p15:guide id="14" pos="7432">
          <p15:clr>
            <a:srgbClr xmlns:a="http://schemas.openxmlformats.org/drawingml/2006/main" val="F26B43"/>
          </p15:clr>
        </p15:guide>
        <p15:guide id="15" orient="horz">
          <p15:clr>
            <a:srgbClr xmlns:a="http://schemas.openxmlformats.org/drawingml/2006/main" val="F26B43"/>
          </p15:clr>
        </p15:guide>
        <p15:guide id="17" orient="horz" pos="248">
          <p15:clr>
            <a:srgbClr xmlns:a="http://schemas.openxmlformats.org/drawingml/2006/main" val="F26B43"/>
          </p15:clr>
        </p15:guide>
        <p15:guide id="18" orient="horz" pos="656">
          <p15:clr>
            <a:srgbClr xmlns:a="http://schemas.openxmlformats.org/drawingml/2006/main" val="F26B43"/>
          </p15:clr>
        </p15:guide>
        <p15:guide id="19" orient="horz" pos="872">
          <p15:clr>
            <a:srgbClr xmlns:a="http://schemas.openxmlformats.org/drawingml/2006/main" val="F26B43"/>
          </p15:clr>
        </p15:guide>
        <p15:guide id="20" orient="horz" pos="1280">
          <p15:clr>
            <a:srgbClr xmlns:a="http://schemas.openxmlformats.org/drawingml/2006/main" val="F26B43"/>
          </p15:clr>
        </p15:guide>
        <p15:guide id="21" orient="horz" pos="1496">
          <p15:clr>
            <a:srgbClr xmlns:a="http://schemas.openxmlformats.org/drawingml/2006/main" val="F26B43"/>
          </p15:clr>
        </p15:guide>
        <p15:guide id="22" orient="horz" pos="1904">
          <p15:clr>
            <a:srgbClr xmlns:a="http://schemas.openxmlformats.org/drawingml/2006/main" val="F26B43"/>
          </p15:clr>
        </p15:guide>
        <p15:guide id="23" orient="horz" pos="2120">
          <p15:clr>
            <a:srgbClr xmlns:a="http://schemas.openxmlformats.org/drawingml/2006/main" val="F26B43"/>
          </p15:clr>
        </p15:guide>
        <p15:guide id="24" orient="horz" pos="2528">
          <p15:clr>
            <a:srgbClr xmlns:a="http://schemas.openxmlformats.org/drawingml/2006/main" val="F26B43"/>
          </p15:clr>
        </p15:guide>
        <p15:guide id="25" orient="horz" pos="2744">
          <p15:clr>
            <a:srgbClr xmlns:a="http://schemas.openxmlformats.org/drawingml/2006/main" val="F26B43"/>
          </p15:clr>
        </p15:guide>
        <p15:guide id="26" orient="horz" pos="3152">
          <p15:clr>
            <a:srgbClr xmlns:a="http://schemas.openxmlformats.org/drawingml/2006/main" val="F26B43"/>
          </p15:clr>
        </p15:guide>
        <p15:guide id="27" orient="horz" pos="3368">
          <p15:clr>
            <a:srgbClr xmlns:a="http://schemas.openxmlformats.org/drawingml/2006/main" val="F26B43"/>
          </p15:clr>
        </p15:guide>
        <p15:guide id="28" orient="horz" pos="3776">
          <p15:clr>
            <a:srgbClr xmlns:a="http://schemas.openxmlformats.org/drawingml/2006/main" val="F26B43"/>
          </p15:clr>
        </p15:guide>
        <p15:guide id="29" orient="horz" pos="40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ee91b7c18246fb" /><Relationship Type="http://schemas.openxmlformats.org/officeDocument/2006/relationships/image" Target="/ppt/media/image.png" Id="R256cf7416bcc4283" /><Relationship Type="http://schemas.openxmlformats.org/officeDocument/2006/relationships/notesSlide" Target="/ppt/notesSlides/notesSlide1.xml" Id="R2bed443f659a43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7d499a734a4b27" /><Relationship Type="http://schemas.openxmlformats.org/officeDocument/2006/relationships/notesSlide" Target="/ppt/notesSlides/notesSlide2.xml" Id="R3c01075b9c9042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aff6acdf044bfa" /><Relationship Type="http://schemas.openxmlformats.org/officeDocument/2006/relationships/notesSlide" Target="/ppt/notesSlides/notesSlide3.xml" Id="R010051c74c5349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c31e4105ba4e1b" /><Relationship Type="http://schemas.openxmlformats.org/officeDocument/2006/relationships/notesSlide" Target="/ppt/notesSlides/notesSlide4.xml" Id="R4ed775490ee84d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564d9ffd2d4fd3" /><Relationship Type="http://schemas.openxmlformats.org/officeDocument/2006/relationships/notesSlide" Target="/ppt/notesSlides/notesSlide5.xml" Id="R250d74fd47fb49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bc09bcc8d647c3" /><Relationship Type="http://schemas.openxmlformats.org/officeDocument/2006/relationships/notesSlide" Target="/ppt/notesSlides/notesSlide6.xml" Id="Rdcb6c8b1178a4a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faa194d563440a" /><Relationship Type="http://schemas.openxmlformats.org/officeDocument/2006/relationships/image" Target="/ppt/media/image.png" Id="Reb09e39993da4f1e" /><Relationship Type="http://schemas.openxmlformats.org/officeDocument/2006/relationships/notesSlide" Target="/ppt/notesSlides/notesSlide7.xml" Id="R86d928cd2a2e429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5F8F4"/>
                </a:solidFill>
                <a:latin typeface="Inter"/>
                <a:ea typeface="Inter"/>
                <a:cs typeface="Inter"/>
              </a:defRPr>
            </a:pPr>
            <a:fld id="{AD75FED6-38D0-DE9C-92C0-6E7FA635581C}" type="slidenum">
              <a:rPr sz="975">
                <a:solidFill>
                  <a:srgbClr val="F5F8F4"/>
                </a:solidFill>
                <a:latin typeface="Inter"/>
                <a:ea typeface="Inter"/>
                <a:cs typeface="Inter"/>
              </a:rPr>
              <a:t>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Python-based FCW Prototype on Mac</a:t>
            </a:r>
          </a:p>
        </p:txBody>
      </p:sp>
      <p:pic>
        <p:nvPicPr>
          <p:cNvPr id="5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cf7416bcc4283"/>
          <a:srcRect xmlns:a="http://schemas.openxmlformats.org/drawingml/2006/main" l="5428" t="29168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466850"/>
            <a:ext cx="5534025" cy="3114675"/>
          </a:xfrm>
          <a:prstGeom xmlns:a="http://schemas.openxmlformats.org/drawingml/2006/main" prst="roundRect">
            <a:avLst>
              <a:gd name="adj" fmla="val 3670"/>
            </a:avLst>
          </a:prstGeom>
        </p:spPr>
      </p:pic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4EE2969-B7C7-0C70-E299-B866E67D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84867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22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目的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6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録画映像を使い、FCWロジックの基準動作を実機移植前に確認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2A34455-41AC-E436-D08C-DBCA262E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855855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22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入出力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6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H.264映像を入力し、結果動画、CSVログ、警告音を出力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C8E0E87-3AB4-4974-B387-6C1AD3E4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028700"/>
            <a:ext cx="2152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6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628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6281F"/>
                </a:solidFill>
                <a:latin typeface="Hiragino Sans"/>
                <a:ea typeface="Hiragino Sans"/>
                <a:cs typeface="Hiragino Sans"/>
              </a:rPr>
              <a:t>RECORDED VIDEO INPUT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7D1E34AE-B6BB-49E0-9695-5C09B61B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553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B8C9C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B8C9C1"/>
                </a:solidFill>
                <a:latin typeface="Hiragino Sans"/>
                <a:ea typeface="Hiragino Sans"/>
                <a:cs typeface="Hiragino Sans"/>
              </a:rPr>
              <a:t>実際の出力画面：ROI、検出枠、track ID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5F8F4"/>
                </a:solidFill>
                <a:latin typeface="Inter"/>
                <a:ea typeface="Inter"/>
                <a:cs typeface="Inter"/>
              </a:defRPr>
            </a:pPr>
            <a:fld id="{E2598689-54C9-18A7-3A19-ED76AA08988F}" type="slidenum">
              <a:rPr sz="975">
                <a:solidFill>
                  <a:srgbClr val="F5F8F4"/>
                </a:solidFill>
                <a:latin typeface="Inter"/>
                <a:ea typeface="Inter"/>
                <a:cs typeface="Inter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Detection / ROI / Tracking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900" b="1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SSD MobileNet V2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COCOのcarクラスのみを対象
score 0.4以上を採用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lIns="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900" b="1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IoUでIDを維持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IoU threshold 0.3
同じ車両の高さ履歴を保持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lIns="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900" b="1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前方車両を選別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bboxの下辺中心を判定
ROI外は後段から除外</a:t>
            </a: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72B81A-AC75-C1B0-4313-7B84D705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1905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350" b="1">
                <a:solidFill>
                  <a:srgbClr val="B9F64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B9F64A"/>
                </a:solidFill>
                <a:latin typeface="Inter"/>
                <a:ea typeface="Inter"/>
                <a:cs typeface="Inter"/>
              </a:rPr>
              <a:t>DETECTION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200B2E2-6D19-9AFE-1E8D-518E55CC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1905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350" b="1">
                <a:solidFill>
                  <a:srgbClr val="B9F64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B9F64A"/>
                </a:solidFill>
                <a:latin typeface="Inter"/>
                <a:ea typeface="Inter"/>
                <a:cs typeface="Inter"/>
              </a:rPr>
              <a:t>FORWARD ROI</a:t>
            </a: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611C1F-A471-6B24-C785-2D7A5B5D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1905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350" b="1">
                <a:solidFill>
                  <a:srgbClr val="B9F64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B9F64A"/>
                </a:solidFill>
                <a:latin typeface="Inter"/>
                <a:ea typeface="Inter"/>
                <a:cs typeface="Inter"/>
              </a:rPr>
              <a:t>TRACKING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1A9E22F-DC63-4BA8-AFA7-622EB540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814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F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B118E0EC-AE8C-4425-91B7-515EE2C5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5814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F64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5F8F4"/>
                </a:solidFill>
                <a:latin typeface="Inter"/>
                <a:ea typeface="Inter"/>
                <a:cs typeface="Inter"/>
              </a:defRPr>
            </a:pPr>
            <a:fld id="{202359C0-8A7A-196E-DD58-8E6569619F09}" type="slidenum">
              <a:rPr sz="975">
                <a:solidFill>
                  <a:srgbClr val="F5F8F4"/>
                </a:solidFill>
                <a:latin typeface="Inter"/>
                <a:ea typeface="Inter"/>
                <a:cs typeface="Inter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TTC Estimation and Alert Decision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0388" y="179792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車両高さ h(t) の履歴</a:t>
            </a: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88" y="3065806"/>
            <a:ext cx="4774279" cy="2060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2000" b="1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1</a:t>
            </a:r>
            <a:r>
              <a:rPr sz="18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   5フレームを保持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2000" b="1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2</a:t>
            </a:r>
            <a:r>
              <a:rPr sz="18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   線形回帰で dh/dt を推定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2000" b="1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3</a:t>
            </a:r>
            <a:r>
              <a:rPr sz="18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   TTC = h / (dh/dt)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D611070-583D-3F58-C192-8939D87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172243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76A6DA9-A945-2CB8-E1DA-17DA3035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201737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8100" rIns="38100" bIns="38100" anchor="t">
            <a:normAutofit fontScale="100000" lnSpcReduction="2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20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警報ON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7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TTC 4.0秒以下が
3フレーム連続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A99370F-1C2A-C7A9-A2D7-8EC8D6F7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73411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BB779E3-29A4-71DB-4059-EE4248BE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402905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8100" rIns="38100" bIns="38100" anchor="t">
            <a:normAutofit fontScale="100000" lnSpcReduction="2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20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警報OFF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7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TTC 6.5秒以上
またはTTCなし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2ACE7DCB-39BC-4049-B07E-1A201800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95900"/>
            <a:ext cx="47625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1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B9F64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dh/dt 0以下：非接近としてTTCなし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5F8F4"/>
                </a:solidFill>
                <a:latin typeface="Inter"/>
                <a:ea typeface="Inter"/>
                <a:cs typeface="Inter"/>
              </a:defRPr>
            </a:pPr>
            <a:fld id="{EFD6AB9A-5F9E-5F59-51AB-3C8734130965}" type="slidenum">
              <a:rPr sz="975">
                <a:solidFill>
                  <a:srgbClr val="F5F8F4"/>
                </a:solidFill>
                <a:latin typeface="Inter"/>
                <a:ea typeface="Inter"/>
                <a:cs typeface="Inter"/>
              </a:rPr>
              <a:t>4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Prototype Outputs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2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 u="none" cap="none" spc="0">
                <a:ln>
                  <a:noFill/>
                </a:ln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検出枠、ID、TTC、R²、ALERTを重ねて表示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2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 u="none" cap="none" spc="0">
                <a:ln>
                  <a:noFill/>
                </a:ln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警報中にmacOSのシステム音を再生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2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 u="none" cap="none" spc="0">
                <a:ln>
                  <a:noFill/>
                </a:ln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frame、height、dh/dt、TTC、score、IoUを保存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19050" bIns="1905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3600" b="0">
                <a:solidFill>
                  <a:srgbClr val="B9F64A"/>
                </a:solidFill>
                <a:latin typeface="Inter"/>
                <a:ea typeface="Inter"/>
                <a:cs typeface="Inter"/>
              </a:defRPr>
            </a:pPr>
            <a:r>
              <a:rPr sz="3600" b="0" i="0" u="none" cap="none" spc="0">
                <a:ln>
                  <a:noFill/>
                </a:ln>
                <a:solidFill>
                  <a:srgbClr val="B9F64A"/>
                </a:solidFill>
                <a:latin typeface="Inter"/>
                <a:ea typeface="Inter"/>
                <a:cs typeface="Inter"/>
              </a:rPr>
              <a:t>VIDEO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19050" bIns="1905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3600" b="0">
                <a:solidFill>
                  <a:srgbClr val="B9F64A"/>
                </a:solidFill>
                <a:latin typeface="Inter"/>
                <a:ea typeface="Inter"/>
                <a:cs typeface="Inter"/>
              </a:defRPr>
            </a:pPr>
            <a:r>
              <a:rPr sz="3600" b="0" i="0" u="none" cap="none" spc="0">
                <a:ln>
                  <a:noFill/>
                </a:ln>
                <a:solidFill>
                  <a:srgbClr val="B9F64A"/>
                </a:solidFill>
                <a:latin typeface="Inter"/>
                <a:ea typeface="Inter"/>
                <a:cs typeface="Inter"/>
              </a:rPr>
              <a:t>CSV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19050" bIns="1905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3600" b="0">
                <a:solidFill>
                  <a:srgbClr val="B9F64A"/>
                </a:solidFill>
                <a:latin typeface="Inter"/>
                <a:ea typeface="Inter"/>
                <a:cs typeface="Inter"/>
              </a:defRPr>
            </a:pPr>
            <a:r>
              <a:rPr sz="3600" b="0" i="0" u="none" cap="none" spc="0">
                <a:ln>
                  <a:noFill/>
                </a:ln>
                <a:solidFill>
                  <a:srgbClr val="B9F64A"/>
                </a:solidFill>
                <a:latin typeface="Inter"/>
                <a:ea typeface="Inter"/>
                <a:cs typeface="Inter"/>
              </a:rPr>
              <a:t>AUDIO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8100" rIns="38100" bIns="38100" anchor="t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確認方法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画面表示と保存データを突き合わせ、警報判定の過程を確認
位置づけ：実機移植前のロジック検証用</a:t>
            </a:r>
          </a:p>
        </p:txBody>
      </p:sp>
      <p:sp>
        <p:nvSpPr>
          <p:cNvPr id="9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472BC53-6948-EE0F-E8E5-5488EF53DF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5F8F4"/>
                </a:solidFill>
                <a:latin typeface="Inter"/>
                <a:ea typeface="Inter"/>
                <a:cs typeface="Inter"/>
              </a:defRPr>
            </a:pPr>
            <a:fld id="{EE5B3003-2C54-13C6-9832-7637201064DE}" type="slidenum">
              <a:rPr sz="975">
                <a:solidFill>
                  <a:srgbClr val="F5F8F4"/>
                </a:solidFill>
                <a:latin typeface="Inter"/>
                <a:ea typeface="Inter"/>
                <a:cs typeface="Inter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92557"/>
          </a:xfr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Development Flow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91A6518E-A0E8-4188-B741-7AE63F42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B8C9C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B8C9C1"/>
                </a:solidFill>
                <a:latin typeface="Hiragino Sans"/>
                <a:ea typeface="Hiragino Sans"/>
                <a:cs typeface="Hiragino Sans"/>
              </a:rPr>
              <a:t>Macで確認した基準動作を、映像入力から統合まで順に実機へ移行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695AF5EE-CD64-4A6C-A983-D70340EB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1030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F64A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A88D244-6428-42C7-A691-08E8C462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64A"/>
          </a:solidFill>
          <a:ln xmlns:a="http://schemas.openxmlformats.org/drawingml/2006/main" w="9525">
            <a:solidFill>
              <a:srgbClr val="B9F6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6281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032F5CD-D7FF-4231-8635-5429BF36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383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Mac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(Python)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7A1CF7E-27BE-48C1-902C-4B01D529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64A"/>
          </a:solidFill>
          <a:ln xmlns:a="http://schemas.openxmlformats.org/drawingml/2006/main" w="9525">
            <a:solidFill>
              <a:srgbClr val="B9F6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6281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0F3761EE-92B9-4DCE-A5E8-D5C125C7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433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TDA4VM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Setup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E39AFA0-4B88-4F9E-88C2-AF50C07A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64A"/>
          </a:solidFill>
          <a:ln xmlns:a="http://schemas.openxmlformats.org/drawingml/2006/main" w="9525">
            <a:solidFill>
              <a:srgbClr val="B9F6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6281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B50F8335-5E0B-4218-9D36-08BCCE97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383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AVP2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Execution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3287FD3-8D98-4F39-A5A4-1DA7E8E4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64A"/>
          </a:solidFill>
          <a:ln xmlns:a="http://schemas.openxmlformats.org/drawingml/2006/main" w="9525">
            <a:solidFill>
              <a:srgbClr val="B9F6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6281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409013C5-4A37-497B-8404-515563FE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433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H.264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Decode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B831231C-FDE0-4A0F-8180-1C8D2293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64A"/>
          </a:solidFill>
          <a:ln xmlns:a="http://schemas.openxmlformats.org/drawingml/2006/main" w="9525">
            <a:solidFill>
              <a:srgbClr val="B9F6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6281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F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5217FCCD-D89C-4512-897A-EE7CEF0F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383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3ch to 1ch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683E52BF-7D71-4963-AF0C-CEFCE10C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64A"/>
          </a:solidFill>
          <a:ln xmlns:a="http://schemas.openxmlformats.org/drawingml/2006/main" w="9525">
            <a:solidFill>
              <a:srgbClr val="B9F6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6281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F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382FA280-3876-47BB-ABC7-E8C177DD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433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OD / TTC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Integration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5BA248DC-8CD2-43CC-B0CB-E38640BE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64A"/>
          </a:solidFill>
          <a:ln xmlns:a="http://schemas.openxmlformats.org/drawingml/2006/main" w="9525">
            <a:solidFill>
              <a:srgbClr val="B9F6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6281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F"/>
                </a:solidFill>
                <a:latin typeface="Inter"/>
                <a:ea typeface="Inter"/>
                <a:cs typeface="Inter"/>
              </a:rPr>
              <a:t>7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E4C8DC57-D100-4F85-ADB3-C752CDA2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383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Demo /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Result</a:t>
            </a: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F37DDC5D-4193-4D4E-97BC-D951F8C6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64770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1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各段階で出力を確認してから次の処理を接続</a:t>
            </a: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6FC0B29-995A-397B-C2F3-07F01F9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152" y="2134181"/>
            <a:ext cx="3568700" cy="370994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5F8F4"/>
                </a:solidFill>
                <a:latin typeface="Inter"/>
                <a:ea typeface="Inter"/>
                <a:cs typeface="Inter"/>
              </a:defRPr>
            </a:pPr>
            <a:fld id="{8C630A04-5A25-9E0C-9436-126091DB86B3}" type="slidenum">
              <a:rPr sz="975">
                <a:solidFill>
                  <a:srgbClr val="F5F8F4"/>
                </a:solidFill>
                <a:latin typeface="Inter"/>
                <a:ea typeface="Inter"/>
                <a:cs typeface="Inter"/>
              </a:rPr>
              <a:t>6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Video Input Pipeline on TDA4VM</a:t>
            </a:r>
          </a:p>
        </p:txBody>
      </p:sp>
      <p:cxnSp>
        <p:nvCxnSpPr>
          <p:cNvPr id="24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BCEF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1905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B9F64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B9F64A"/>
                </a:solidFill>
                <a:latin typeface="Inter"/>
                <a:ea typeface="Inter"/>
                <a:cs typeface="Inter"/>
              </a:rPr>
              <a:t>STEP 1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1905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B9F64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B9F64A"/>
                </a:solidFill>
                <a:latin typeface="Inter"/>
                <a:ea typeface="Inter"/>
                <a:cs typeface="Inter"/>
              </a:rPr>
              <a:t>STEP 2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1905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B9F64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B9F64A"/>
                </a:solidFill>
                <a:latin typeface="Inter"/>
                <a:ea typeface="Inter"/>
                <a:cs typeface="Inter"/>
              </a:rPr>
              <a:t>STEP 3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AVP2 Execution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4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ベースパイプラインを起動し、処理グラフを確認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TDA4VM Setup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4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実行環境を準備し、build・deploy・launchを確認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H.264 Decode / 3ch to 1ch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4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フレーム取得と入力形式の変換を確認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5F8F4"/>
                </a:solidFill>
                <a:latin typeface="Inter"/>
                <a:ea typeface="Inter"/>
                <a:cs typeface="Inter"/>
              </a:defRPr>
            </a:pPr>
            <a:fld id="{D3D7D1C8-AE23-AA48-DF65-C742588DBE47}" type="slidenum">
              <a:rPr sz="975">
                <a:solidFill>
                  <a:srgbClr val="F5F8F4"/>
                </a:solidFill>
                <a:latin typeface="Inter"/>
                <a:ea typeface="Inter"/>
                <a:cs typeface="Inter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Object Detection / TTC Integration</a:t>
            </a:r>
          </a:p>
        </p:txBody>
      </p:sp>
      <p:pic>
        <p:nvPicPr>
          <p:cNvPr id="5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9e39993da4f1e"/>
          <a:srcRect xmlns:a="http://schemas.openxmlformats.org/drawingml/2006/main" l="5428" t="29168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352550"/>
            <a:ext cx="5534025" cy="3114675"/>
          </a:xfrm>
          <a:prstGeom xmlns:a="http://schemas.openxmlformats.org/drawingml/2006/main" prst="roundRect">
            <a:avLst>
              <a:gd name="adj" fmla="val 3670"/>
            </a:avLst>
          </a:prstGeom>
        </p:spPr>
      </p:pic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4EE2969-B7C7-0C70-E299-B866E67D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84867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22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6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Detection出力をROI、Tracking、TTC、Alertへ接続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2A34455-41AC-E436-D08C-DBCA262E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855855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22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Demo / Result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6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検出枠、TTC、警報表示を確認し、Mac版の基準動作と比較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90AAF71-5324-472C-A28B-B4FB31D3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952500"/>
            <a:ext cx="2400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6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0628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6281F"/>
                </a:solidFill>
                <a:latin typeface="Hiragino Sans"/>
                <a:ea typeface="Hiragino Sans"/>
                <a:cs typeface="Hiragino Sans"/>
              </a:rPr>
              <a:t>MAC REFERENCE OUTPUT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4224181-8C56-475B-B0F0-C6C445C4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6300"/>
            <a:ext cx="55340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D51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TDA4VM Demo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最終版では実機キャプチャを配置し、同じ表示項目で比較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2026-09-06T02:14:42.8610000Z</dcterms:created>
  <dcterms:modified xsi:type="dcterms:W3CDTF">2026-09-06T02:14:42.8610000Z</dcterms:modified>
</coreProperties>
</file>