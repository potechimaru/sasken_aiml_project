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a29891e094de2" /><Relationship Type="http://schemas.openxmlformats.org/officeDocument/2006/relationships/extended-properties" Target="/docProps/app.xml" Id="Ra36bfc727dbc4ea1" /><Relationship Type="http://schemas.openxmlformats.org/officeDocument/2006/relationships/officeDocument" Target="/ppt/presentation.xml" Id="R3176fb8c66144ab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bb724a4ab214b9e"/>
  </p:sldMasterIdLst>
  <p:notesMasterIdLst>
    <p:notesMasterId xmlns:r="http://schemas.openxmlformats.org/officeDocument/2006/relationships" r:id="R2e5a04b9d45c42f8"/>
  </p:notesMasterIdLst>
  <p:sldIdLst>
    <p:sldId xmlns:r="http://schemas.openxmlformats.org/officeDocument/2006/relationships" id="256" r:id="Rdc208d7c55a24c05"/>
    <p:sldId xmlns:r="http://schemas.openxmlformats.org/officeDocument/2006/relationships" id="257" r:id="Rb6ac0bbfbe7c4284"/>
    <p:sldId xmlns:r="http://schemas.openxmlformats.org/officeDocument/2006/relationships" id="258" r:id="R3de97caa29294de1"/>
    <p:sldId xmlns:r="http://schemas.openxmlformats.org/officeDocument/2006/relationships" id="259" r:id="R30b1582cf98b4f39"/>
    <p:sldId xmlns:r="http://schemas.openxmlformats.org/officeDocument/2006/relationships" id="260" r:id="R9bd2bf1618f74c31"/>
    <p:sldId xmlns:r="http://schemas.openxmlformats.org/officeDocument/2006/relationships" id="261" r:id="R126c04d8fbda404a"/>
    <p:sldId xmlns:r="http://schemas.openxmlformats.org/officeDocument/2006/relationships" id="262" r:id="R1d972f7101d94fa8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987a9caa70349aa"/>
      <p:bold xmlns:r="http://schemas.openxmlformats.org/officeDocument/2006/relationships" r:id="Rbc6b3bb0ac724900"/>
    </p:embeddedFont>
    <p:embeddedFont>
      <p:font typeface="Inter Medium"/>
      <p:regular xmlns:r="http://schemas.openxmlformats.org/officeDocument/2006/relationships" r:id="R492e2087da1f4919"/>
    </p:embeddedFont>
    <p:embeddedFont>
      <p:font typeface="Inter SemiBold"/>
      <p:regular xmlns:r="http://schemas.openxmlformats.org/officeDocument/2006/relationships" r:id="R53fc65804c9d49f4"/>
      <p:bold xmlns:r="http://schemas.openxmlformats.org/officeDocument/2006/relationships" r:id="Rafe8522fdc3f4503"/>
    </p:embeddedFont>
    <p:embeddedFont>
      <p:font typeface="OpenAI Sans"/>
      <p:regular xmlns:r="http://schemas.openxmlformats.org/officeDocument/2006/relationships" r:id="R4c0255ee032a41a4"/>
      <p:bold xmlns:r="http://schemas.openxmlformats.org/officeDocument/2006/relationships" r:id="R42d7fc509b74492a"/>
      <p:italic xmlns:r="http://schemas.openxmlformats.org/officeDocument/2006/relationships" r:id="Rd1e9e65715134db7"/>
      <p:boldItalic xmlns:r="http://schemas.openxmlformats.org/officeDocument/2006/relationships" r:id="Rf9215c8bd0ec438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40e54da624a7c" /><Relationship Type="http://schemas.openxmlformats.org/officeDocument/2006/relationships/slideMaster" Target="/ppt/slideMasters/slideMaster1.xml" Id="R1bb724a4ab214b9e" /><Relationship Type="http://schemas.openxmlformats.org/officeDocument/2006/relationships/notesMaster" Target="/ppt/notesMasters/notesMaster1.xml" Id="R2e5a04b9d45c42f8" /><Relationship Type="http://schemas.openxmlformats.org/officeDocument/2006/relationships/presProps" Target="/ppt/presProps.xml" Id="Rae04b8d6e085401b" /><Relationship Type="http://schemas.openxmlformats.org/officeDocument/2006/relationships/viewProps" Target="/ppt/viewProps.xml" Id="Rdc6396a6102e4f8e" /><Relationship Type="http://schemas.openxmlformats.org/officeDocument/2006/relationships/tableStyles" Target="/ppt/tableStyles.xml" Id="R67b7ef608c744739" /><Relationship Type="http://schemas.openxmlformats.org/officeDocument/2006/relationships/font" Target="/ppt/fonts/font.dat" Id="R4987a9caa70349aa" /><Relationship Type="http://schemas.openxmlformats.org/officeDocument/2006/relationships/font" Target="/ppt/fonts/font2.dat" Id="Rbc6b3bb0ac724900" /><Relationship Type="http://schemas.openxmlformats.org/officeDocument/2006/relationships/font" Target="/ppt/fonts/font3.dat" Id="R492e2087da1f4919" /><Relationship Type="http://schemas.openxmlformats.org/officeDocument/2006/relationships/font" Target="/ppt/fonts/font4.dat" Id="R53fc65804c9d49f4" /><Relationship Type="http://schemas.openxmlformats.org/officeDocument/2006/relationships/font" Target="/ppt/fonts/font5.dat" Id="Rafe8522fdc3f4503" /><Relationship Type="http://schemas.openxmlformats.org/officeDocument/2006/relationships/font" Target="/ppt/fonts/font6.dat" Id="R4c0255ee032a41a4" /><Relationship Type="http://schemas.openxmlformats.org/officeDocument/2006/relationships/font" Target="/ppt/fonts/font7.dat" Id="R42d7fc509b74492a" /><Relationship Type="http://schemas.openxmlformats.org/officeDocument/2006/relationships/font" Target="/ppt/fonts/font8.dat" Id="Rd1e9e65715134db7" /><Relationship Type="http://schemas.openxmlformats.org/officeDocument/2006/relationships/font" Target="/ppt/fonts/font9.dat" Id="Rf9215c8bd0ec4387" /><Relationship Type="http://schemas.openxmlformats.org/officeDocument/2006/relationships/slide" Target="/ppt/slides/slide1.xml" Id="Rdc208d7c55a24c05" /><Relationship Type="http://schemas.openxmlformats.org/officeDocument/2006/relationships/slide" Target="/ppt/slides/slide2.xml" Id="Rb6ac0bbfbe7c4284" /><Relationship Type="http://schemas.openxmlformats.org/officeDocument/2006/relationships/slide" Target="/ppt/slides/slide3.xml" Id="R3de97caa29294de1" /><Relationship Type="http://schemas.openxmlformats.org/officeDocument/2006/relationships/slide" Target="/ppt/slides/slide4.xml" Id="R30b1582cf98b4f39" /><Relationship Type="http://schemas.openxmlformats.org/officeDocument/2006/relationships/slide" Target="/ppt/slides/slide5.xml" Id="R9bd2bf1618f74c31" /><Relationship Type="http://schemas.openxmlformats.org/officeDocument/2006/relationships/slide" Target="/ppt/slides/slide6.xml" Id="R126c04d8fbda404a" /><Relationship Type="http://schemas.openxmlformats.org/officeDocument/2006/relationships/slide" Target="/ppt/slides/slide7.xml" Id="R1d972f7101d9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bef5ffe65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f1e6301934641" /><Relationship Type="http://schemas.openxmlformats.org/officeDocument/2006/relationships/notesMaster" Target="/ppt/notesMasters/notesMaster1.xml" Id="R1ebd22df96fe41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bf6dad19274588" /><Relationship Type="http://schemas.openxmlformats.org/officeDocument/2006/relationships/notesMaster" Target="/ppt/notesMasters/notesMaster1.xml" Id="R4fd18f9712a9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bd884555754285" /><Relationship Type="http://schemas.openxmlformats.org/officeDocument/2006/relationships/notesMaster" Target="/ppt/notesMasters/notesMaster1.xml" Id="R493f6b05f843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9231b346f64430" /><Relationship Type="http://schemas.openxmlformats.org/officeDocument/2006/relationships/notesMaster" Target="/ppt/notesMasters/notesMaster1.xml" Id="R91d2397d331b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dee302b95a4c84" /><Relationship Type="http://schemas.openxmlformats.org/officeDocument/2006/relationships/notesMaster" Target="/ppt/notesMasters/notesMaster1.xml" Id="R71a198642c8e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bd28cb914e4269" /><Relationship Type="http://schemas.openxmlformats.org/officeDocument/2006/relationships/notesMaster" Target="/ppt/notesMasters/notesMaster1.xml" Id="R770b612cb889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36061ccbcf493b" /><Relationship Type="http://schemas.openxmlformats.org/officeDocument/2006/relationships/notesMaster" Target="/ppt/notesMasters/notesMaster1.xml" Id="R458cc0729c0845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まず、Mac上で実装したPython-based FCW Prototypeについて説明します。このプロトタイプの目的は、実機へ移植する前に、車両検出から警報判定までのFCWロジックを一つの処理として確認することです。入力には録画映像を使用し、フレームごとに処理します。結果は映像上に表示し、処理後の動画とCSVログとして保存します。Macでは警報音も出力します。このPython版を、後のTDA4VM実装で参照する基準動作として使用しました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code/ssd_ttc.py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Image: output/ssd_ttc_result_0.4_1788427235.889101.mp4 at 28 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Python版では、まずSSD MobileNet V2を使って各フレームの車両を検出します。COCOデータセットの車クラスだけを対象にし、信頼度が0.4以上の検出を残します。次に、画像上に設定した台形ROIを使い、バウンディングボックスの下辺中心がROI内にある車両だけを選別します。これにより、自車の前方とは考えにくい検出を後段から除外します。その後、前フレームとのIoUを使って車両IDを引き継ぎます。同じIDを維持することで、同じ車両の高さ変化を追跡でき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code/fcw/detector.py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code/fcw/roi.py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code/fcw/tracker.py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追跡した車両ごとに、バウンディングボックスの高さを5フレーム分保持します。車両が接近すると画像上の高さが増えるため、高さと時間の関係を線形回帰し、dh/dtを求めます。現在の高さをdh/dtで割ることでTTCを推定します。高さが増加していない場合は接近していないと判断し、TTCを計算しません。現行設定では、TTCが4秒以下の状態が3フレーム連続すると警報を開始し、6.5秒以上になると解除します。異なる開始条件と解除条件によって、警報の頻繁な切り替わりを抑え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code/fcw/ttc.py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code/fcw/alert.py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code/fcw/config.py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定結果は、映像上のバウンディングボックスやラベルとして確認できます。通常の車両は緑枠、警報中の車両は赤枠で表示し、ID、検出信頼度、IoU、履歴長、TTC、警報状態を重ねます。また、Macでは警報時にシステム音を再生し、処理後のMP4動画とCSVログを保存します。CSVでは、車両高さ、dh/dt、TTC、決定係数、警報状態を数値で確認できます。一方で、この値は画像上の高さから求めた推定値です。Python版で基準動作を確認した後、実機への移植に進み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(not spoken):</a:t>
            </a:r>
          </a:p>
          <a:p xmlns:a="http://schemas.openxmlformats.org/drawingml/2006/main">
            <a:r>
              <a:t>- code/fcw/visualizer.py</a:t>
            </a:r>
          </a:p>
          <a:p xmlns:a="http://schemas.openxmlformats.org/drawingml/2006/main">
            <a:r>
              <a:t>- code/fcw/logger.py</a:t>
            </a:r>
          </a:p>
          <a:p xmlns:a="http://schemas.openxmlformats.org/drawingml/2006/main">
            <a:r>
              <a:t>- code/fcw/alarm.py</a:t>
            </a:r>
          </a:p>
          <a:p xmlns:a="http://schemas.openxmlformats.org/drawingml/2006/main">
            <a:r>
              <a:t>- code/ssd_ttc.py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ここからはDevelopment Flowについて説明します。開発は、Mac上でPython版のFCWロジックを確認するところから始めました。その後、TDA4VMのセットアップとAVP2の実行へ進みました。映像処理では、H.264 decodingと3chから1chへの変換を順番に確認しました。映像が後段へ安定して届く状態を作ってから、Object DetectionとTTCを統合しました。最後にDemoとResultで一連の動作を確認します。段階ごとに出力を確認したことで、問題が発生した処理を切り分けやすくしました。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機側の最初の段階では、TDA4VM上で必要な環境を準備し、ビルド、配置、起動ができることを確認しました。次にAVP2のベースパイプラインを実行し、処理グラフが動作する状態を作りました。その後、入力処理にH.264 decodingを接続し、映像からフレームを取得できることを確認しました。この時点ではTTCロジックを追加せず、映像が継続的に流れることを優先して確認しました。続いて3chから1chへの変換を接続し、後段が受け取るデータ形式を整えました。これにより、次の統合段階へ進める入力経路が完成しまし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最後に、実機で得られたObject Detectionの結果を、FCWの後段処理へ接続します。検出結果を受けて前方車両を選別し、車両を追跡しながらTTCを計算して警報状態を更新します。Mac版で確認した処理の流れを基準にすることで、実機側の結果を段階ごとに比較できます。統合後は、映像上の検出枠、車両ID、TTC、警報表示をDemoとResultとして確認します。このスライドの右上はMac版の基準出力です。最終発表では、右下の枠をTDA4VM実機のキャプチャへ差し替え、両者を比較して締めま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(not spoken):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- 0904_new/codeC/main_pre.c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- 0904_new/app_tidl_avp2/main.c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Image: output/ssd_ttc_result_0.4_1788427235.889101.mp4 at 114.28 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05542c80841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d948b2d194d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d36c6282b43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bf8faf19445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4c35640ff40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c9629ead44e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48bbb2d82476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78ffd9144483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5e2125fce2456b" /><Relationship Type="http://schemas.openxmlformats.org/officeDocument/2006/relationships/slideLayout" Target="/ppt/slideLayouts/slideLayout1.xml" Id="Rfb6ef4781e4e4c46" /><Relationship Type="http://schemas.openxmlformats.org/officeDocument/2006/relationships/slideLayout" Target="/ppt/slideLayouts/slideLayout2.xml" Id="R53512aadc8364671" /><Relationship Type="http://schemas.openxmlformats.org/officeDocument/2006/relationships/slideLayout" Target="/ppt/slideLayouts/slideLayout3.xml" Id="Rdbf2de64148d4003" /><Relationship Type="http://schemas.openxmlformats.org/officeDocument/2006/relationships/slideLayout" Target="/ppt/slideLayouts/slideLayout4.xml" Id="R7153f4f28e8f413f" /><Relationship Type="http://schemas.openxmlformats.org/officeDocument/2006/relationships/slideLayout" Target="/ppt/slideLayouts/slideLayout5.xml" Id="R45355f6fd7504436" /><Relationship Type="http://schemas.openxmlformats.org/officeDocument/2006/relationships/slideLayout" Target="/ppt/slideLayouts/slideLayout6.xml" Id="Rf0fbb00781ab4770" /><Relationship Type="http://schemas.openxmlformats.org/officeDocument/2006/relationships/slideLayout" Target="/ppt/slideLayouts/slideLayout7.xml" Id="Rdf33b42064e04b0c" /><Relationship Type="http://schemas.openxmlformats.org/officeDocument/2006/relationships/slideLayout" Target="/ppt/slideLayouts/slideLayout8.xml" Id="R9a135e19cc49422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0026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6ef4781e4e4c46"/>
    <p:sldLayoutId xmlns:r="http://schemas.openxmlformats.org/officeDocument/2006/relationships" id="2147483650" r:id="R53512aadc8364671"/>
    <p:sldLayoutId xmlns:r="http://schemas.openxmlformats.org/officeDocument/2006/relationships" id="2147483651" r:id="Rdbf2de64148d4003"/>
    <p:sldLayoutId xmlns:r="http://schemas.openxmlformats.org/officeDocument/2006/relationships" id="2147483652" r:id="R7153f4f28e8f413f"/>
    <p:sldLayoutId xmlns:r="http://schemas.openxmlformats.org/officeDocument/2006/relationships" id="2147483653" r:id="R45355f6fd7504436"/>
    <p:sldLayoutId xmlns:r="http://schemas.openxmlformats.org/officeDocument/2006/relationships" id="2147483654" r:id="Rf0fbb00781ab4770"/>
    <p:sldLayoutId xmlns:r="http://schemas.openxmlformats.org/officeDocument/2006/relationships" id="2147483655" r:id="Rdf33b42064e04b0c"/>
    <p:sldLayoutId xmlns:r="http://schemas.openxmlformats.org/officeDocument/2006/relationships" id="2147483656" r:id="R9a135e19cc494223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F26B43"/>
          </p15:clr>
        </p15:guide>
        <p15:guide id="2" pos="7680">
          <p15:clr>
            <a:srgbClr xmlns:a="http://schemas.openxmlformats.org/drawingml/2006/main" val="F26B43"/>
          </p15:clr>
        </p15:guide>
        <p15:guide id="3" pos="248">
          <p15:clr>
            <a:srgbClr xmlns:a="http://schemas.openxmlformats.org/drawingml/2006/main" val="F26B43"/>
          </p15:clr>
        </p15:guide>
        <p15:guide id="4" pos="1264">
          <p15:clr>
            <a:srgbClr xmlns:a="http://schemas.openxmlformats.org/drawingml/2006/main" val="F26B43"/>
          </p15:clr>
        </p15:guide>
        <p15:guide id="5" pos="1480">
          <p15:clr>
            <a:srgbClr xmlns:a="http://schemas.openxmlformats.org/drawingml/2006/main" val="F26B43"/>
          </p15:clr>
        </p15:guide>
        <p15:guide id="6" pos="2496">
          <p15:clr>
            <a:srgbClr xmlns:a="http://schemas.openxmlformats.org/drawingml/2006/main" val="F26B43"/>
          </p15:clr>
        </p15:guide>
        <p15:guide id="7" pos="2712">
          <p15:clr>
            <a:srgbClr xmlns:a="http://schemas.openxmlformats.org/drawingml/2006/main" val="F26B43"/>
          </p15:clr>
        </p15:guide>
        <p15:guide id="8" pos="3736">
          <p15:clr>
            <a:srgbClr xmlns:a="http://schemas.openxmlformats.org/drawingml/2006/main" val="F26B43"/>
          </p15:clr>
        </p15:guide>
        <p15:guide id="9" pos="3944">
          <p15:clr>
            <a:srgbClr xmlns:a="http://schemas.openxmlformats.org/drawingml/2006/main" val="F26B43"/>
          </p15:clr>
        </p15:guide>
        <p15:guide id="10" pos="4968">
          <p15:clr>
            <a:srgbClr xmlns:a="http://schemas.openxmlformats.org/drawingml/2006/main" val="F26B43"/>
          </p15:clr>
        </p15:guide>
        <p15:guide id="11" pos="5184">
          <p15:clr>
            <a:srgbClr xmlns:a="http://schemas.openxmlformats.org/drawingml/2006/main" val="F26B43"/>
          </p15:clr>
        </p15:guide>
        <p15:guide id="12" pos="6200">
          <p15:clr>
            <a:srgbClr xmlns:a="http://schemas.openxmlformats.org/drawingml/2006/main" val="F26B43"/>
          </p15:clr>
        </p15:guide>
        <p15:guide id="13" pos="6416">
          <p15:clr>
            <a:srgbClr xmlns:a="http://schemas.openxmlformats.org/drawingml/2006/main" val="F26B43"/>
          </p15:clr>
        </p15:guide>
        <p15:guide id="14" pos="7432">
          <p15:clr>
            <a:srgbClr xmlns:a="http://schemas.openxmlformats.org/drawingml/2006/main" val="F26B43"/>
          </p15:clr>
        </p15:guide>
        <p15:guide id="15" orient="horz">
          <p15:clr>
            <a:srgbClr xmlns:a="http://schemas.openxmlformats.org/drawingml/2006/main" val="F26B43"/>
          </p15:clr>
        </p15:guide>
        <p15:guide id="17" orient="horz" pos="248">
          <p15:clr>
            <a:srgbClr xmlns:a="http://schemas.openxmlformats.org/drawingml/2006/main" val="F26B43"/>
          </p15:clr>
        </p15:guide>
        <p15:guide id="18" orient="horz" pos="656">
          <p15:clr>
            <a:srgbClr xmlns:a="http://schemas.openxmlformats.org/drawingml/2006/main" val="F26B43"/>
          </p15:clr>
        </p15:guide>
        <p15:guide id="19" orient="horz" pos="872">
          <p15:clr>
            <a:srgbClr xmlns:a="http://schemas.openxmlformats.org/drawingml/2006/main" val="F26B43"/>
          </p15:clr>
        </p15:guide>
        <p15:guide id="20" orient="horz" pos="1280">
          <p15:clr>
            <a:srgbClr xmlns:a="http://schemas.openxmlformats.org/drawingml/2006/main" val="F26B43"/>
          </p15:clr>
        </p15:guide>
        <p15:guide id="21" orient="horz" pos="1496">
          <p15:clr>
            <a:srgbClr xmlns:a="http://schemas.openxmlformats.org/drawingml/2006/main" val="F26B43"/>
          </p15:clr>
        </p15:guide>
        <p15:guide id="22" orient="horz" pos="1904">
          <p15:clr>
            <a:srgbClr xmlns:a="http://schemas.openxmlformats.org/drawingml/2006/main" val="F26B43"/>
          </p15:clr>
        </p15:guide>
        <p15:guide id="23" orient="horz" pos="2120">
          <p15:clr>
            <a:srgbClr xmlns:a="http://schemas.openxmlformats.org/drawingml/2006/main" val="F26B43"/>
          </p15:clr>
        </p15:guide>
        <p15:guide id="24" orient="horz" pos="2528">
          <p15:clr>
            <a:srgbClr xmlns:a="http://schemas.openxmlformats.org/drawingml/2006/main" val="F26B43"/>
          </p15:clr>
        </p15:guide>
        <p15:guide id="25" orient="horz" pos="2744">
          <p15:clr>
            <a:srgbClr xmlns:a="http://schemas.openxmlformats.org/drawingml/2006/main" val="F26B43"/>
          </p15:clr>
        </p15:guide>
        <p15:guide id="26" orient="horz" pos="3152">
          <p15:clr>
            <a:srgbClr xmlns:a="http://schemas.openxmlformats.org/drawingml/2006/main" val="F26B43"/>
          </p15:clr>
        </p15:guide>
        <p15:guide id="27" orient="horz" pos="3368">
          <p15:clr>
            <a:srgbClr xmlns:a="http://schemas.openxmlformats.org/drawingml/2006/main" val="F26B43"/>
          </p15:clr>
        </p15:guide>
        <p15:guide id="28" orient="horz" pos="3776">
          <p15:clr>
            <a:srgbClr xmlns:a="http://schemas.openxmlformats.org/drawingml/2006/main" val="F26B43"/>
          </p15:clr>
        </p15:guide>
        <p15:guide id="29" orient="horz" pos="40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e3507111b4274" /><Relationship Type="http://schemas.openxmlformats.org/officeDocument/2006/relationships/image" Target="/ppt/media/image.png" Id="R8031907b490e42b4" /><Relationship Type="http://schemas.openxmlformats.org/officeDocument/2006/relationships/notesSlide" Target="/ppt/notesSlides/notesSlide1.xml" Id="Ra4ac7549aad9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966444f8145d2" /><Relationship Type="http://schemas.openxmlformats.org/officeDocument/2006/relationships/notesSlide" Target="/ppt/notesSlides/notesSlide2.xml" Id="Rd8bb6ea5a17e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2513f4cf2a4f41" /><Relationship Type="http://schemas.openxmlformats.org/officeDocument/2006/relationships/notesSlide" Target="/ppt/notesSlides/notesSlide3.xml" Id="R55762f94e73444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f35052eb742a5" /><Relationship Type="http://schemas.openxmlformats.org/officeDocument/2006/relationships/notesSlide" Target="/ppt/notesSlides/notesSlide4.xml" Id="R5e711b39ec6749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e09552a9549c9" /><Relationship Type="http://schemas.openxmlformats.org/officeDocument/2006/relationships/notesSlide" Target="/ppt/notesSlides/notesSlide5.xml" Id="Recc634453f7041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4ff4f8ea54a29" /><Relationship Type="http://schemas.openxmlformats.org/officeDocument/2006/relationships/notesSlide" Target="/ppt/notesSlides/notesSlide6.xml" Id="R13fde5e9b27a49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48e7bf70d49a6" /><Relationship Type="http://schemas.openxmlformats.org/officeDocument/2006/relationships/image" Target="/ppt/media/image.png" Id="Rf8e499ed3a584fcf" /><Relationship Type="http://schemas.openxmlformats.org/officeDocument/2006/relationships/notesSlide" Target="/ppt/notesSlides/notesSlide7.xml" Id="R1ca474a51dc34e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AD75FED6-38D0-DE9C-92C0-6E7FA635581C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Python-based FCW Prototype on Mac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1907b490e42b4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466850"/>
            <a:ext cx="5534025" cy="3114675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目的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録画映像を使い、FCWロジックの基準動作を実機移植前に確認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入出力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H.264映像を入力し、結果動画、CSVログ、警告音を出力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3A96C6A-E069-481D-B981-E1B841F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2152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rPr>
              <a:t>RECORDED VIDEO INPUT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73526B4-CDC1-405D-81F3-A973CA2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553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rPr>
              <a:t>実際の出力画面：ROI、検出枠、track ID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2598689-54C9-18A7-3A19-ED76AA08988F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Detection / ROI / Tracking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SSD MobileNet V2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COCOのcarクラスのみを対象
score 0.4以上を採用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IoUでIDを維持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IoU threshold 0.3
同じ車両の高さ履歴を保持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9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前方車両を選別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bboxの下辺中心を判定
ROI外は後段から除外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DETECTION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FORWARD ROI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350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TRACKING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CC2D1BD-BF97-427C-BED0-CD3CBCD8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3D5E1C7B-75DA-4572-92EF-0870828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581400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Estimation and Alert Decision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車両高さ h(t) の履歴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06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1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5フレームを保持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2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線形回帰で dh/dt を推定</a:t>
            </a:r>
          </a:p>
          <a:p xmlns:a="http://schemas.openxmlformats.org/drawingml/2006/main">
            <a:pPr>
              <a:lnSpc>
                <a:spcPct val="130000"/>
              </a:lnSpc>
              <a:buNone/>
              <a:defRPr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3</a:t>
            </a:r>
            <a:r>
              <a:rPr sz="18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   TTC = h / (dh/dt)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警報ON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7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4.0秒以下が
3フレーム連続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0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警報OFF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7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TTC 6.5秒以上
またはTTCなし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03918F8-C745-4B5A-90D4-1BE7950F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95900"/>
            <a:ext cx="4762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dh/dt 0以下：非接近としてTTCなし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Prototype Outputs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検出枠、ID、TTC、R²、ALERTを重ねて表示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警報中にmacOSのシステム音を再生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2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frame、height、dh/dt、TTC、score、IoUを保存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VIDEO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CSV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ctr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3600" b="0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3600" b="0" i="0" u="none" cap="none" spc="0">
                <a:ln>
                  <a:noFill/>
                </a:ln>
                <a:solidFill>
                  <a:srgbClr val="B9F64A"/>
                </a:solidFill>
                <a:latin typeface="Inter"/>
                <a:ea typeface="Inter"/>
                <a:cs typeface="Inter"/>
              </a:rPr>
              <a:t>AUDIO</a:t>
            </a:r>
            <a:endParaRPr sz="700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38100" rIns="38100" bIns="38100" anchor="t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確認方法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画面表示と保存データを突き合わせ、警報判定の過程を確認
位置づけ：実機移植前のロジック検証用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Development Flow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05E8D322-22A1-45DF-8A5E-DD754164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B8C9C1"/>
                </a:solidFill>
                <a:latin typeface="Hiragino Sans"/>
                <a:ea typeface="Hiragino Sans"/>
                <a:cs typeface="Hiragino Sans"/>
              </a:rPr>
              <a:t>Macで確認した基準動作を、映像入力から統合まで順に実機へ移行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885AC4D-0945-44AF-92E6-A74D28AE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F64A"/>
            </a:solidFill>
            <a:prstDash val="solid"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D5DC7D0-AEAC-4679-8E6B-7061A9D4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5A049FB-F4B7-4816-9576-04F9BC1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Mac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(Python)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F0DD19C4-AD21-4208-B03E-4A558E7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F699ACBC-8A8A-4560-89DF-2E6958E3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Setup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252EF09-DBB6-4E44-81CA-5CBA7BF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995DE02-28DE-4B80-A620-1223C0F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AVP2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Execution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B27D705-6DE2-43ED-AAB5-107659CC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611AF006-AE12-4549-B201-1A7241E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Decode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6537278-B3E0-4AEB-A1F4-3D8ECAE7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62C135D8-9688-4032-B3FA-4D91319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3ch to 1ch</a:t>
            </a: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BF33C471-8DBD-49E3-8D23-D55595A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1FE785F9-994B-4783-9C8F-0DA1A1E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OD / TTC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Integration</a:t>
            </a: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43C5D0C8-4803-4289-8A7D-8BB23D5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64A"/>
          </a:solidFill>
          <a:ln xmlns:a="http://schemas.openxmlformats.org/drawingml/2006/main" w="9525">
            <a:solidFill>
              <a:srgbClr val="B9F6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6281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6281F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B186FDE9-24E6-4D77-BD4B-ECBEC0EE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383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Demo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Result</a:t>
            </a: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749E91D8-64BA-4C59-BEC6-37DEDD47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6477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各段階で出力を確認してから次の処理を接続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8463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8C630A04-5A25-9E0C-9436-126091DB86B3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Video Input Pipeline on TDA4VM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90525" y="3373755"/>
            <a:ext cx="11410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F59"/>
          </a:solidFill>
          <a:ln xmlns:a="http://schemas.openxmlformats.org/drawingml/2006/main">
            <a:solidFill>
              <a:srgbClr val="BCEF59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19050" tIns="19050" rIns="19050" bIns="1905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B9F64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B9F64A"/>
                </a:solidFill>
                <a:latin typeface="Inter"/>
                <a:ea typeface="Inter"/>
                <a:cs typeface="Inter"/>
              </a:rPr>
              <a:t>STEP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AVP2 Execution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ベースパイプラインを起動し、処理グラフを確認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 Setup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実行環境を準備し、ビルド・配置・起動を確認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H.264 Decode / 3ch to 1ch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4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フレーム取得と入力形式の変換を確認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5F8F4"/>
                </a:solidFill>
                <a:latin typeface="Inter"/>
                <a:ea typeface="Inter"/>
                <a:cs typeface="Inter"/>
              </a:defRPr>
            </a:pPr>
            <a:fld id="{D3D7D1C8-AE23-AA48-DF65-C742588DBE47}" type="slidenum">
              <a:rPr sz="975">
                <a:solidFill>
                  <a:srgbClr val="F5F8F4"/>
                </a:solidFill>
                <a:latin typeface="Inter"/>
                <a:ea typeface="Inter"/>
                <a:cs typeface="Inter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Object Detection / TTC Integration</a:t>
            </a:r>
          </a:p>
        </p:txBody>
      </p:sp>
      <p:pic>
        <p:nvPicPr>
          <p:cNvPr id="54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499ed3a584fcf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352550"/>
            <a:ext cx="5534025" cy="3114675"/>
          </a:xfrm>
          <a:prstGeom xmlns:a="http://schemas.openxmlformats.org/drawingml/2006/main" prst="roundRect">
            <a:avLst>
              <a:gd name="adj" fmla="val 3670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統合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Detection出力をROI、Tracking、TTC、Alertへ接続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38100" rIns="38100" bIns="3810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spcAft>
                <a:spcPts val="700"/>
              </a:spcAft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2200" b="1">
                <a:solidFill>
                  <a:srgbClr val="B9F64A"/>
                </a:solidFill>
                <a:latin typeface="Hiragino Sans"/>
                <a:ea typeface="Hiragino Sans"/>
                <a:cs typeface="Hiragino Sans"/>
              </a:rPr>
              <a:t>Demo / Result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>
                <a:latin typeface="Hiragino Sans"/>
                <a:ea typeface="Hiragino Sans"/>
                <a:cs typeface="Hiragino Sans"/>
              </a:defRPr>
            </a:pPr>
            <a:r>
              <a:rPr sz="160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検出枠、TTC、警報表示を確認し、Mac版の基準動作と比較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FD11326-FBBB-4C69-8040-BC81E7F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52500"/>
            <a:ext cx="2400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6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6281F"/>
                </a:solidFill>
                <a:latin typeface="Hiragino Sans"/>
                <a:ea typeface="Hiragino Sans"/>
                <a:cs typeface="Hiragino Sans"/>
              </a:rPr>
              <a:t>MAC REFERENCE OUTPUT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F83C7665-EB91-4AF7-B4B7-418BF0CF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55340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D51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TDA4VM Demo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F5F8F4"/>
                </a:solidFill>
                <a:latin typeface="Hiragino Sans"/>
                <a:ea typeface="Hiragino Sans"/>
                <a:cs typeface="Hiragino Sans"/>
              </a:rPr>
              <a:t>最終版では実機キャプチャを配置し、同じ表示項目で比較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2026-09-06T02:17:12.4710000Z</dcterms:created>
  <dcterms:modified xsi:type="dcterms:W3CDTF">2026-09-06T02:17:12.4710000Z</dcterms:modified>
</coreProperties>
</file>